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608795"/>
            <a:ext cx="5048231" cy="2640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353" b="1" spc="-2" kern="0" dirty="0">
                <a:solidFill>
                  <a:srgbClr val="1A1A1A"/>
                </a:solidFill>
              </a:rPr>
              <a:t>AI-Based</a:t>
            </a:r>
            <a:pPr algn="l" indent="0" marL="0">
              <a:lnSpc>
                <a:spcPts val="5200"/>
              </a:lnSpc>
              <a:buNone/>
            </a:pPr>
            <a:r>
              <a:rPr lang="en-US" sz="4353" b="1" spc="-2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5200"/>
              </a:lnSpc>
              <a:buNone/>
            </a:pPr>
            <a:r>
              <a:rPr lang="en-US" sz="4353" b="1" spc="-2" kern="0" dirty="0">
                <a:solidFill>
                  <a:srgbClr val="1A1A1A"/>
                </a:solidFill>
              </a:rPr>
              <a:t>Full Body</a:t>
            </a:r>
            <a:pPr algn="l" indent="0" marL="0">
              <a:lnSpc>
                <a:spcPts val="5200"/>
              </a:lnSpc>
              <a:buNone/>
            </a:pPr>
            <a:r>
              <a:rPr lang="en-US" sz="4353" b="1" spc="-2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5200"/>
              </a:lnSpc>
              <a:buNone/>
            </a:pPr>
            <a:r>
              <a:rPr lang="en-US" sz="4353" b="1" spc="-2" kern="0" dirty="0">
                <a:solidFill>
                  <a:srgbClr val="1A1A1A"/>
                </a:solidFill>
              </a:rPr>
              <a:t>Measurement</a:t>
            </a:r>
            <a:pPr algn="l" indent="0" marL="0">
              <a:lnSpc>
                <a:spcPts val="5200"/>
              </a:lnSpc>
              <a:buNone/>
            </a:pPr>
            <a:r>
              <a:rPr lang="en-US" sz="4353" b="1" spc="-2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5200"/>
              </a:lnSpc>
              <a:buNone/>
            </a:pPr>
            <a:r>
              <a:rPr lang="en-US" sz="4353" b="1" spc="-2" kern="0" dirty="0">
                <a:solidFill>
                  <a:srgbClr val="1A1A1A"/>
                </a:solidFill>
              </a:rPr>
              <a:t>Estimation</a:t>
            </a:r>
            <a:endParaRPr lang="en-US" sz="4353" dirty="0"/>
          </a:p>
        </p:txBody>
      </p:sp>
      <p:sp>
        <p:nvSpPr>
          <p:cNvPr id="4" name="Text 1"/>
          <p:cNvSpPr/>
          <p:nvPr/>
        </p:nvSpPr>
        <p:spPr>
          <a:xfrm>
            <a:off x="6362681" y="3163230"/>
            <a:ext cx="2209819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Voms Tech Machine 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Round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Final Assignment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6362681" y="3936541"/>
            <a:ext cx="220981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FF4500"/>
                </a:solidFill>
              </a:rPr>
              <a:t>Abhishek Dixit</a:t>
            </a:r>
            <a:endParaRPr lang="en-US" sz="170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000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Project Overview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026914"/>
            <a:ext cx="4000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Objective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293019"/>
            <a:ext cx="4000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Estimate approximate human body measurements from three standard pose images (Front, Side, Standing).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1867365"/>
            <a:ext cx="4000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Mandatory Outputs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2133470"/>
            <a:ext cx="4000500" cy="27324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Height (User Input)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406718"/>
            <a:ext cx="4000500" cy="276820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Shoulder Width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571500" y="2683539"/>
            <a:ext cx="4000500" cy="276820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Hip Width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2960359"/>
            <a:ext cx="4000500" cy="276820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Arm Length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71500" y="3237179"/>
            <a:ext cx="4000500" cy="276820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A1A1A"/>
                </a:solidFill>
              </a:rPr>
              <a:t>Leg / Inseam Length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3731884"/>
            <a:ext cx="4000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Core Value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71500" y="3997989"/>
            <a:ext cx="40005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 non-invasive, fast, and scalable alternative to manual tape measurements for e-commerce and fitness.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929188" y="428625"/>
            <a:ext cx="3857625" cy="428625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3" y="571500"/>
            <a:ext cx="3571875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Hybrid Pipeline Approach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62645"/>
            <a:ext cx="1893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STAGE 01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334095"/>
            <a:ext cx="18930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Pose Estimation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571500" y="1580555"/>
            <a:ext cx="18930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MediaPipe Pose extracts 2D landmarks from input images.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2607469" y="1162645"/>
            <a:ext cx="1893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STAGE 02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2607469" y="1334095"/>
            <a:ext cx="18930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Feature Engineering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2607469" y="1580555"/>
            <a:ext cx="18930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Calculating pixel distances between key landmark pairs.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643438" y="1162645"/>
            <a:ext cx="1893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STAGE 03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4643438" y="1334095"/>
            <a:ext cx="18930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Normalization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643438" y="1580555"/>
            <a:ext cx="18930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Converting distances into scale-invariant ratios relative to height.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679406" y="1162645"/>
            <a:ext cx="1893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STAGE 04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6679406" y="1334095"/>
            <a:ext cx="189309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ML Refinement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6679406" y="1580555"/>
            <a:ext cx="18930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Random Forest Regressor corrects for noise and distortion.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857250" y="2146306"/>
            <a:ext cx="3571875" cy="2143125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2245147"/>
            <a:ext cx="3429000" cy="19454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14875" y="2146306"/>
            <a:ext cx="3571875" cy="2143125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841" y="2217744"/>
            <a:ext cx="1689943" cy="20002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027932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Scaling Logic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571875" cy="3571875"/>
          </a:xfrm>
          <a:prstGeom prst="rect">
            <a:avLst/>
          </a:prstGeom>
          <a:solidFill>
            <a:srgbClr val="FFFFFF"/>
          </a:solidFill>
          <a:ln w="9144">
            <a:solidFill>
              <a:srgbClr val="33333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169789"/>
            <a:ext cx="3286125" cy="32861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442101" y="428625"/>
            <a:ext cx="4130399" cy="117297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3"/>
          <p:cNvSpPr/>
          <p:nvPr/>
        </p:nvSpPr>
        <p:spPr>
          <a:xfrm>
            <a:off x="4442101" y="428625"/>
            <a:ext cx="4130399" cy="5715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8" name="Text 4"/>
          <p:cNvSpPr/>
          <p:nvPr/>
        </p:nvSpPr>
        <p:spPr>
          <a:xfrm>
            <a:off x="4656413" y="642938"/>
            <a:ext cx="37017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4500"/>
                </a:solidFill>
              </a:rPr>
              <a:t>The Core Calculation</a:t>
            </a:r>
            <a:endParaRPr lang="en-US" sz="683" dirty="0"/>
          </a:p>
        </p:txBody>
      </p:sp>
      <p:sp>
        <p:nvSpPr>
          <p:cNvPr id="9" name="Text 5"/>
          <p:cNvSpPr/>
          <p:nvPr/>
        </p:nvSpPr>
        <p:spPr>
          <a:xfrm>
            <a:off x="4656413" y="850106"/>
            <a:ext cx="3701774" cy="694339"/>
          </a:xfrm>
          <a:prstGeom prst="rect">
            <a:avLst/>
          </a:prstGeom>
          <a:noFill/>
          <a:ln/>
        </p:spPr>
        <p:txBody>
          <a:bodyPr wrap="square" lIns="0" tIns="0" rIns="0" bIns="255143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2F2F2"/>
                </a:solidFill>
              </a:rPr>
              <a:t>Measurement (cm) = </a:t>
            </a:r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2F2F2"/>
                </a:solidFill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2F2F2"/>
                </a:solidFill>
              </a:rPr>
              <a:t>Predicted Ratio × User Height (cm)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4442101" y="1830195"/>
            <a:ext cx="41303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Absolute Reference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4442101" y="2040936"/>
            <a:ext cx="413039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The user-provided height serves as the single source of truth, eliminating the need for complex camera calibration or reference objects.</a:t>
            </a:r>
            <a:endParaRPr lang="en-US" sz="834" dirty="0"/>
          </a:p>
        </p:txBody>
      </p:sp>
      <p:sp>
        <p:nvSpPr>
          <p:cNvPr id="12" name="Text 8"/>
          <p:cNvSpPr/>
          <p:nvPr/>
        </p:nvSpPr>
        <p:spPr>
          <a:xfrm>
            <a:off x="4442101" y="2539547"/>
            <a:ext cx="41303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Scale Invariance</a:t>
            </a:r>
            <a:endParaRPr lang="en-US" sz="885" dirty="0"/>
          </a:p>
        </p:txBody>
      </p:sp>
      <p:sp>
        <p:nvSpPr>
          <p:cNvPr id="13" name="Text 9"/>
          <p:cNvSpPr/>
          <p:nvPr/>
        </p:nvSpPr>
        <p:spPr>
          <a:xfrm>
            <a:off x="4442101" y="2750288"/>
            <a:ext cx="413039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By working with ratios, the system remains robust across different image resolutions and camera distances.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4442101" y="3248899"/>
            <a:ext cx="41303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ML Refinement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4442101" y="3459640"/>
            <a:ext cx="413039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The Random Forest model predicts the most probable anthropometric ratios, smoothing out noise from 2D landmark detection.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Performance Scenarios &amp; Justification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69789"/>
            <a:ext cx="3086100" cy="1000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900"/>
              </a:lnSpc>
              <a:buNone/>
            </a:pPr>
            <a:r>
              <a:rPr lang="en-US" sz="7254" b="1" dirty="0">
                <a:solidFill>
                  <a:srgbClr val="FF4500"/>
                </a:solidFill>
              </a:rPr>
              <a:t>0.65</a:t>
            </a:r>
            <a:endParaRPr lang="en-US" sz="7254" dirty="0"/>
          </a:p>
        </p:txBody>
      </p:sp>
      <p:sp>
        <p:nvSpPr>
          <p:cNvPr id="5" name="Text 2"/>
          <p:cNvSpPr/>
          <p:nvPr/>
        </p:nvSpPr>
        <p:spPr>
          <a:xfrm>
            <a:off x="571500" y="2241352"/>
            <a:ext cx="3086100" cy="33397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1A1A1A"/>
                </a:solidFill>
              </a:rPr>
              <a:t>Current R² Score</a:t>
            </a:r>
            <a:endParaRPr lang="en-US" sz="119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861072"/>
            <a:ext cx="30861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4432697"/>
            <a:ext cx="30861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*Score reflects real-world, uncontrolled conditions.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3943350" y="1169789"/>
            <a:ext cx="46291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R² Variance: Worst-Case vs. Optimal-Case</a:t>
            </a:r>
            <a:endParaRPr lang="en-US" sz="987" dirty="0"/>
          </a:p>
        </p:txBody>
      </p:sp>
      <p:sp>
        <p:nvSpPr>
          <p:cNvPr id="9" name="Shape 5"/>
          <p:cNvSpPr/>
          <p:nvPr/>
        </p:nvSpPr>
        <p:spPr>
          <a:xfrm>
            <a:off x="3943350" y="1507331"/>
            <a:ext cx="1547543" cy="2911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Shape 6"/>
          <p:cNvSpPr/>
          <p:nvPr/>
        </p:nvSpPr>
        <p:spPr>
          <a:xfrm>
            <a:off x="3943350" y="1791295"/>
            <a:ext cx="1547543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1" name="Text 7"/>
          <p:cNvSpPr/>
          <p:nvPr/>
        </p:nvSpPr>
        <p:spPr>
          <a:xfrm>
            <a:off x="3943350" y="1507331"/>
            <a:ext cx="1547543" cy="29110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2F2F2"/>
                </a:solidFill>
              </a:rPr>
              <a:t>Scenario</a:t>
            </a:r>
            <a:endParaRPr lang="en-US" sz="584" dirty="0"/>
          </a:p>
        </p:txBody>
      </p:sp>
      <p:sp>
        <p:nvSpPr>
          <p:cNvPr id="12" name="Shape 8"/>
          <p:cNvSpPr/>
          <p:nvPr/>
        </p:nvSpPr>
        <p:spPr>
          <a:xfrm>
            <a:off x="5490893" y="1507331"/>
            <a:ext cx="625218" cy="2911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9"/>
          <p:cNvSpPr/>
          <p:nvPr/>
        </p:nvSpPr>
        <p:spPr>
          <a:xfrm>
            <a:off x="5490893" y="1791295"/>
            <a:ext cx="62521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4" name="Text 10"/>
          <p:cNvSpPr/>
          <p:nvPr/>
        </p:nvSpPr>
        <p:spPr>
          <a:xfrm>
            <a:off x="5490893" y="1507331"/>
            <a:ext cx="625218" cy="29110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2F2F2"/>
                </a:solidFill>
              </a:rPr>
              <a:t>R² Score</a:t>
            </a:r>
            <a:endParaRPr lang="en-US" sz="584" dirty="0"/>
          </a:p>
        </p:txBody>
      </p:sp>
      <p:sp>
        <p:nvSpPr>
          <p:cNvPr id="15" name="Shape 11"/>
          <p:cNvSpPr/>
          <p:nvPr/>
        </p:nvSpPr>
        <p:spPr>
          <a:xfrm>
            <a:off x="6116110" y="1507331"/>
            <a:ext cx="2456390" cy="2911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2"/>
          <p:cNvSpPr/>
          <p:nvPr/>
        </p:nvSpPr>
        <p:spPr>
          <a:xfrm>
            <a:off x="6116110" y="1791295"/>
            <a:ext cx="245639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3"/>
          <p:cNvSpPr/>
          <p:nvPr/>
        </p:nvSpPr>
        <p:spPr>
          <a:xfrm>
            <a:off x="6116110" y="1507331"/>
            <a:ext cx="2456390" cy="291108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2F2F2"/>
                </a:solidFill>
              </a:rPr>
              <a:t>Key Conditions</a:t>
            </a: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3943350" y="1794867"/>
            <a:ext cx="1547543" cy="44648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**Worst-Case (Real-World)**</a:t>
            </a:r>
            <a:endParaRPr lang="en-US" sz="727" dirty="0"/>
          </a:p>
        </p:txBody>
      </p:sp>
      <p:sp>
        <p:nvSpPr>
          <p:cNvPr id="19" name="Text 15"/>
          <p:cNvSpPr/>
          <p:nvPr/>
        </p:nvSpPr>
        <p:spPr>
          <a:xfrm>
            <a:off x="5490893" y="1794867"/>
            <a:ext cx="625218" cy="44648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$\sim 0.65$</a:t>
            </a:r>
            <a:endParaRPr lang="en-US" sz="727" dirty="0"/>
          </a:p>
        </p:txBody>
      </p:sp>
      <p:sp>
        <p:nvSpPr>
          <p:cNvPr id="20" name="Text 16"/>
          <p:cNvSpPr/>
          <p:nvPr/>
        </p:nvSpPr>
        <p:spPr>
          <a:xfrm>
            <a:off x="6116110" y="1794867"/>
            <a:ext cx="2456390" cy="44648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1A1A1A"/>
                </a:solidFill>
              </a:rPr>
              <a:t>Uncontrolled lighting, loose clothing, perspective distortion, consumer camera.</a:t>
            </a:r>
            <a:endParaRPr lang="en-US" sz="727" dirty="0"/>
          </a:p>
        </p:txBody>
      </p:sp>
      <p:sp>
        <p:nvSpPr>
          <p:cNvPr id="21" name="Shape 17"/>
          <p:cNvSpPr/>
          <p:nvPr/>
        </p:nvSpPr>
        <p:spPr>
          <a:xfrm>
            <a:off x="3943350" y="2241352"/>
            <a:ext cx="1547543" cy="45005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2" name="Shape 18"/>
          <p:cNvSpPr/>
          <p:nvPr/>
        </p:nvSpPr>
        <p:spPr>
          <a:xfrm>
            <a:off x="3943350" y="2684264"/>
            <a:ext cx="1547543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19"/>
          <p:cNvSpPr/>
          <p:nvPr/>
        </p:nvSpPr>
        <p:spPr>
          <a:xfrm>
            <a:off x="3943350" y="2241352"/>
            <a:ext cx="1547543" cy="45005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**Optimal-Case (Lab/Controlled)**</a:t>
            </a:r>
            <a:endParaRPr lang="en-US" sz="683" dirty="0"/>
          </a:p>
        </p:txBody>
      </p:sp>
      <p:sp>
        <p:nvSpPr>
          <p:cNvPr id="24" name="Shape 20"/>
          <p:cNvSpPr/>
          <p:nvPr/>
        </p:nvSpPr>
        <p:spPr>
          <a:xfrm>
            <a:off x="5490893" y="2241352"/>
            <a:ext cx="625218" cy="45005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5" name="Shape 21"/>
          <p:cNvSpPr/>
          <p:nvPr/>
        </p:nvSpPr>
        <p:spPr>
          <a:xfrm>
            <a:off x="5490893" y="2684264"/>
            <a:ext cx="625218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2"/>
          <p:cNvSpPr/>
          <p:nvPr/>
        </p:nvSpPr>
        <p:spPr>
          <a:xfrm>
            <a:off x="5490893" y="2241352"/>
            <a:ext cx="625218" cy="45005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$&gt; 0.85$</a:t>
            </a:r>
            <a:endParaRPr lang="en-US" sz="683" dirty="0"/>
          </a:p>
        </p:txBody>
      </p:sp>
      <p:sp>
        <p:nvSpPr>
          <p:cNvPr id="27" name="Shape 23"/>
          <p:cNvSpPr/>
          <p:nvPr/>
        </p:nvSpPr>
        <p:spPr>
          <a:xfrm>
            <a:off x="6116110" y="2241352"/>
            <a:ext cx="2456390" cy="450056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28" name="Shape 24"/>
          <p:cNvSpPr/>
          <p:nvPr/>
        </p:nvSpPr>
        <p:spPr>
          <a:xfrm>
            <a:off x="6116110" y="2684264"/>
            <a:ext cx="2456390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9" name="Text 25"/>
          <p:cNvSpPr/>
          <p:nvPr/>
        </p:nvSpPr>
        <p:spPr>
          <a:xfrm>
            <a:off x="6116110" y="2241352"/>
            <a:ext cx="2456390" cy="45005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Uniform lighting, tight clothing, professional camera, strict pose adherence.</a:t>
            </a:r>
            <a:endParaRPr lang="en-US" sz="683" dirty="0"/>
          </a:p>
        </p:txBody>
      </p:sp>
      <p:sp>
        <p:nvSpPr>
          <p:cNvPr id="30" name="Text 26"/>
          <p:cNvSpPr/>
          <p:nvPr/>
        </p:nvSpPr>
        <p:spPr>
          <a:xfrm>
            <a:off x="3943350" y="2830711"/>
            <a:ext cx="4629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4500"/>
                </a:solidFill>
              </a:rPr>
              <a:t>Justification:</a:t>
            </a:r>
            <a:endParaRPr lang="en-US" sz="784" dirty="0"/>
          </a:p>
        </p:txBody>
      </p:sp>
      <p:sp>
        <p:nvSpPr>
          <p:cNvPr id="31" name="Text 27"/>
          <p:cNvSpPr/>
          <p:nvPr/>
        </p:nvSpPr>
        <p:spPr>
          <a:xfrm>
            <a:off x="3943350" y="2986088"/>
            <a:ext cx="4629150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The $\sim 0.65$ score is the expected baseline due to the inherent information loss of 3D estimation from noisy 2D inputs. The $&gt; 0.85$ score demonstrates the model's true predictive power when the computer vision pipeline is provided with high-quality, low-noise data, validating the core ML approach.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500563" cy="502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Assumptions for</a:t>
            </a:r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Optimal Performance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410165"/>
            <a:ext cx="2107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Standardized Pose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656624"/>
            <a:ext cx="21074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Users must stand upright and face the camera directly for front and side views to ensure landmark accuracy.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2964656" y="1410165"/>
            <a:ext cx="2107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Full Visibility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964656" y="1656624"/>
            <a:ext cx="21074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The entire body (head to feet) must be visible in the standing image for precise height normalization.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578168"/>
            <a:ext cx="2107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Clothing Choice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2824628"/>
            <a:ext cx="21074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Minimal or tight-fitting clothing is required to prevent landmark occlusion and contour distortion.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2964656" y="2578168"/>
            <a:ext cx="2107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Consistency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964656" y="2824628"/>
            <a:ext cx="21074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All images must be of the same person taken under similar lighting and perspective conditions.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357813" y="428625"/>
            <a:ext cx="3214688" cy="428625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8" y="571500"/>
            <a:ext cx="2928938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Limitations &amp; Constraints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41239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The 2D Constraint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571500" y="1643063"/>
            <a:ext cx="3714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Lack of depth information means the system cannot capture body curvature or volume, resulting in linear approximations of 3D forms.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678906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Perspective Sensitivity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2980730"/>
            <a:ext cx="3714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Extreme camera angles, lens distortion, or inconsistent distances can skew landmark coordinates and ratio calculations.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4857750" y="1341239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Data Dependency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4857750" y="1643063"/>
            <a:ext cx="3714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model relies on synthetic anthropometric datasets due to the scarcity of public paired image-and-measurement data.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857750" y="2678906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Non-Medical Grade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857750" y="2980730"/>
            <a:ext cx="3714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Measurements are approximate and intended for sizing/virtual fitting, not for medical diagnostics or professional tailoring.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0" y="4429125"/>
            <a:ext cx="9144000" cy="7143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4643438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F2F2F2"/>
                </a:solidFill>
              </a:rPr>
              <a:t>Note: Accuracy is highly dependent on user compliance with pose and clothing requirements.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spc="-1" kern="0" dirty="0">
                <a:solidFill>
                  <a:srgbClr val="1A1A1A"/>
                </a:solidFill>
              </a:rPr>
              <a:t>Tech Stack: Modern &amp; Scalable Architecture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26952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</a:rPr>
              <a:t>Computer Vision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569839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Image Processing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1910953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Python 3.10+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143125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MediaPipe Pose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375297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OpenCV (cv2)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714875" y="1326952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</a:rPr>
              <a:t>Machine Learning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714875" y="1569839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Predictive Modeling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714875" y="1910953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Scikit-learn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4714875" y="2143125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Random Forest Regressor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4714875" y="2375297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NumPy &amp; Pandas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3456682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</a:rPr>
              <a:t>Backend &amp; API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71500" y="3699570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Inference Engine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571500" y="4040684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FastAPI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71500" y="4272855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Hugging Face Spaces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71500" y="4505027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Uvicorn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714875" y="3456682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</a:rPr>
              <a:t>Frontend &amp; Demo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4714875" y="3699570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User Interface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4714875" y="4040684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React &amp; Vite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714875" y="4272855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Tailwind CSS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714875" y="4505027"/>
            <a:ext cx="38576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Shadcn UI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4500563" cy="50290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Conclusion: A Robust &amp;</a:t>
            </a:r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20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Deployable Solution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410165"/>
            <a:ext cx="2107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Requirement Fulfillment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571500" y="1656624"/>
            <a:ext cx="21074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Successfully delivers all mandatory outputs, a working web-based demo, and a scalable API-first architecture.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2964656" y="1410165"/>
            <a:ext cx="2107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Explainable AI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2964656" y="1656624"/>
            <a:ext cx="210740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Clear scaling logic and a well-defined hybrid pipeline ensure transparency and trust in the measurement results.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578168"/>
            <a:ext cx="2107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Scalability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2824628"/>
            <a:ext cx="2107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The FastAPI backend and React frontend are ready for integration into larger e-commerce or fitness platforms.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2964656" y="2578168"/>
            <a:ext cx="2107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500"/>
                </a:solidFill>
              </a:rPr>
              <a:t>Future Work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2964656" y="2824628"/>
            <a:ext cx="21074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Potential for 3D body reconstruction and depth-sensing integration to further enhance measurement precision.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4623792"/>
            <a:ext cx="4500563" cy="519708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Thank You</a:t>
            </a:r>
            <a:endParaRPr lang="en-US" sz="1193" dirty="0"/>
          </a:p>
        </p:txBody>
      </p:sp>
      <p:sp>
        <p:nvSpPr>
          <p:cNvPr id="13" name="Shape 10"/>
          <p:cNvSpPr/>
          <p:nvPr/>
        </p:nvSpPr>
        <p:spPr>
          <a:xfrm>
            <a:off x="5357813" y="428625"/>
            <a:ext cx="3214688" cy="428625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88" y="571500"/>
            <a:ext cx="2928938" cy="400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2025-12-26T04:48:39Z</dcterms:created>
  <dcterms:modified xsi:type="dcterms:W3CDTF">2025-12-26T04:48:39Z</dcterms:modified>
</cp:coreProperties>
</file>